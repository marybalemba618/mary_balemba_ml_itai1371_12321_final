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Airbnb Price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Final Machine Learning Project | ITAI 1371 | Mary Balemba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Goal: Predict Airbnb listing price using regression models.</a:t>
            </a:r>
          </a:p>
          <a:p>
            <a:pPr>
              <a:spcAft>
                <a:spcPts val="800"/>
              </a:spcAft>
              <a:defRPr sz="2000"/>
            </a:pPr>
            <a:r>
              <a:t>Target: price (numeric) → Regression problem.</a:t>
            </a:r>
          </a:p>
          <a:p>
            <a:pPr>
              <a:spcAft>
                <a:spcPts val="800"/>
              </a:spcAft>
              <a:defRPr sz="2000"/>
            </a:pPr>
            <a:r>
              <a:t>Dataset: Airbnb Open Data; cleaned dataset used for final modeling.</a:t>
            </a:r>
          </a:p>
          <a:p>
            <a:pPr>
              <a:spcAft>
                <a:spcPts val="800"/>
              </a:spcAft>
              <a:defRPr sz="2000"/>
            </a:pPr>
            <a:r>
              <a:t>Required split: 70% Train / 15% Validation / 15% 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43891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Clean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514600"/>
            <a:ext cx="43891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Remove Leakage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383280"/>
            <a:ext cx="43891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Train 5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251959"/>
            <a:ext cx="43891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Ensemble + Bayesian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5120640"/>
            <a:ext cx="43891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Test &amp; Select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Methodology and Data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Models: Linear Regression, Decision Tree, Random Forest, Gradient Boosting, and KNN.</a:t>
            </a:r>
          </a:p>
          <a:p>
            <a:pPr>
              <a:spcAft>
                <a:spcPts val="800"/>
              </a:spcAft>
              <a:defRPr sz="1700"/>
            </a:pPr>
            <a:r>
              <a:t>Metrics: MAE, MSE, and R² on Validation and Test sets.</a:t>
            </a:r>
          </a:p>
          <a:p>
            <a:pPr>
              <a:spcAft>
                <a:spcPts val="800"/>
              </a:spcAft>
              <a:defRPr sz="1700"/>
            </a:pPr>
            <a:r>
              <a:t>Average ensemble used predictions from the top 3 validation models.</a:t>
            </a:r>
          </a:p>
          <a:p>
            <a:pPr>
              <a:spcAft>
                <a:spcPts val="800"/>
              </a:spcAft>
              <a:defRPr sz="1700"/>
            </a:pPr>
            <a:r>
              <a:t>Bayesian Ridge used for the Bayesian comparison.</a:t>
            </a:r>
          </a:p>
          <a:p>
            <a:pPr>
              <a:spcAft>
                <a:spcPts val="800"/>
              </a:spcAft>
              <a:defRPr sz="1700"/>
            </a:pPr>
            <a:r>
              <a:t>Sanity check found target leakage: service_fee correlated ≈ 0.998 with price; fee_to_price_ratio was price-derived.</a:t>
            </a:r>
          </a:p>
          <a:p>
            <a:pPr>
              <a:spcAft>
                <a:spcPts val="800"/>
              </a:spcAft>
              <a:defRPr sz="1700"/>
            </a:pPr>
            <a:r>
              <a:t>Both leakage variables were removed and every model was retrained.</a:t>
            </a:r>
          </a:p>
        </p:txBody>
      </p:sp>
      <p:pic>
        <p:nvPicPr>
          <p:cNvPr id="4" name="Picture 3" descr="random_forest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17320"/>
            <a:ext cx="5120640" cy="30389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Final Model Results</a:t>
            </a:r>
          </a:p>
        </p:txBody>
      </p:sp>
      <p:pic>
        <p:nvPicPr>
          <p:cNvPr id="3" name="Picture 2" descr="final_corrected_test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5669280" cy="3081079"/>
          </a:xfrm>
          <a:prstGeom prst="rect">
            <a:avLst/>
          </a:prstGeom>
        </p:spPr>
      </p:pic>
      <p:pic>
        <p:nvPicPr>
          <p:cNvPr id="4" name="Picture 3" descr="final_corrected_test_m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43000"/>
            <a:ext cx="5486400" cy="30005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0160" y="5715000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Winner: Random Forest — Test MAE 223.6204 | Test MSE 76,230.0658 | Test R² 0.3022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 and 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Random Forest was the best model: highest Test R² and lowest Test MAE/MSE.</a:t>
            </a:r>
          </a:p>
          <a:p>
            <a:pPr>
              <a:spcAft>
                <a:spcPts val="800"/>
              </a:spcAft>
              <a:defRPr sz="1900"/>
            </a:pPr>
            <a:r>
              <a:t>Test R² = 0.3022 → the model explained about 30.22% of price variance.</a:t>
            </a:r>
          </a:p>
          <a:p>
            <a:pPr>
              <a:spcAft>
                <a:spcPts val="800"/>
              </a:spcAft>
              <a:defRPr sz="1900"/>
            </a:pPr>
            <a:r>
              <a:t>Validation R² (0.3031) and Test R² (0.3022) were very close, showing stable generalization.</a:t>
            </a:r>
          </a:p>
          <a:p>
            <a:pPr>
              <a:spcAft>
                <a:spcPts val="800"/>
              </a:spcAft>
              <a:defRPr sz="1900"/>
            </a:pPr>
            <a:r>
              <a:t>The Top-3 Average Ensemble ranked second but did not outperform Random Forest.</a:t>
            </a:r>
          </a:p>
          <a:p>
            <a:pPr>
              <a:spcAft>
                <a:spcPts val="800"/>
              </a:spcAft>
              <a:defRPr sz="1900"/>
            </a:pPr>
            <a:r>
              <a:t>Main lesson: unusually high scores must be checked for target leakage before accepting the result.</a:t>
            </a:r>
          </a:p>
          <a:p>
            <a:pPr>
              <a:spcAft>
                <a:spcPts val="800"/>
              </a:spcAft>
              <a:defRPr sz="1900"/>
            </a:pPr>
            <a:r>
              <a:t>Future work: richer location/amenity features, cross-validation, tuning, XGBoost/LightGBM.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Final selected model: Random Forest Regressor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